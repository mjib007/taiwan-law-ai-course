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27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歡迎學員，今天一小時帶大家從零開始用 GitHub。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用法律草稿命名混亂的問題引起共鳴，再帶出 GitHub 的解決方案。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不需要深入講 Git 指令，今天重點是 GitHub 平台操作。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請學員先執行 git --version，有裝的繼續，沒裝的先看老師示範即可，不要卡在安裝上。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讓學員跟著在自己的 CMD 打，老師在大螢幕同步示範。最後 git log 是關鍵，讓大家看到兩筆 commit。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重點：checkout 示範讓學員親眼看到檔案內容變回去。推到 GitHub 後打開瀏覽器，讓學員看到 commit 紀錄出現在網頁上。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這頁用真實截圖讓學員看到：本地 CMD 的三筆 commit，和 GitHub 網頁上的 Commits 完全一致。這就是 Git + GitHub 的核心價值。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每個概念只說一句話，讓學員先有印象，操作時自然就會懂。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建議今天先帶大家做 A（網頁版），完成後有時間再示範 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讓學員同步操作，老師在大螢幕示範，每步等學員完成再繼續。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message 是 GitHub 最常被忽略但最重要的習慣。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舉老師自己的 mjib007 GitHub 帳號為例，展示 taiwan-law-ai-course repo。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鼓勵學員完成基本任務，有 GitHub 帳號＋第一個 Repo 就算成功。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5 分鐘 Q&amp;A，並再次強調課後任務。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入門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從零開始管理你的知識與程式碼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32004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錢世傑  |  台灣法學基金會 × AI 應用課程  |  2026-06-13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為什麼要用 GitHub？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3F3"/>
          </a:solidFill>
          <a:ln w="12700">
            <a:solidFill>
              <a:srgbClr val="FFBBB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😩  你現在的做法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訴狀_v1.docx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訴狀_v2_修改.docx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訴狀_final.docx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訴狀_final_真的final.docx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訴狀_final_老師改過.docx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0FAF6"/>
          </a:solidFill>
          <a:ln w="12700">
            <a:solidFill>
              <a:srgbClr val="AADDC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GitHub 的做法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一份檔案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每次修改自動記錄版本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可隨時回到任一個版本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多人協作不衝突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雲端備份，不怕遺失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EBF4FA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安裝在你電腦上的工具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負責「追蹤每一次修改」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就像你的個人版本紀錄本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 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188720"/>
            <a:ext cx="3657600" cy="2560320"/>
          </a:xfrm>
          <a:prstGeom prst="roundRect">
            <a:avLst>
              <a:gd name="adj" fmla="val 4286"/>
            </a:avLst>
          </a:prstGeom>
          <a:solidFill>
            <a:srgbClr val="1A2E3B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303520" y="1280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微軟提供的雲端平台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存放所有版本紀錄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全球開發者的協作中心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簡單說：Git 是工具，GitHub 是雲端家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先確認有沒有裝 Git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A1F2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步驟一：打開 CMD，輸入以下指令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441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0FAF5"/>
          </a:solidFill>
          <a:ln w="25400">
            <a:solidFill>
              <a:srgbClr val="02C39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有裝（可以直接上課）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2.xx.x.windows.1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看到版本號就表示已安裝，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直接進下一步。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5F5"/>
          </a:solidFill>
          <a:ln w="25400">
            <a:solidFill>
              <a:srgbClr val="FF888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92040" y="20299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沒裝（需要先安裝）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4871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'git' is not recognized...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前往下載：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git-scm.com/download/win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下載後一路按 Next 即可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7083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EBF4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37083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沒有 Git 也沒關係，今天課程主要用 GitHub 網頁版，Git 是加分示範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實作：跟著做一遍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0D3A52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Windows 用戶：先執行 chcp 65001  避免中文亂碼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078992"/>
          </a:xfrm>
          <a:prstGeom prst="roundRect">
            <a:avLst>
              <a:gd name="adj" fmla="val 7627"/>
            </a:avLst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508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建立資料夾並進入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892808"/>
            <a:ext cx="3895344" cy="512064"/>
          </a:xfrm>
          <a:prstGeom prst="roundRect">
            <a:avLst>
              <a:gd name="adj" fmla="val 10714"/>
            </a:avLst>
          </a:prstGeom>
          <a:solidFill>
            <a:srgbClr val="0A1F2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21792" y="1892808"/>
            <a:ext cx="3785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my-first-repo  &amp;&amp;  cd my-first-repo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4114800" cy="1078992"/>
          </a:xfrm>
          <a:prstGeom prst="roundRect">
            <a:avLst>
              <a:gd name="adj" fmla="val 7627"/>
            </a:avLst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956048" y="150876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956048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1508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 Git（開始追蹤這個資料夾）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56048" y="1892808"/>
            <a:ext cx="3895344" cy="512064"/>
          </a:xfrm>
          <a:prstGeom prst="roundRect">
            <a:avLst>
              <a:gd name="adj" fmla="val 10714"/>
            </a:avLst>
          </a:prstGeom>
          <a:solidFill>
            <a:srgbClr val="0A1F2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010912" y="1892808"/>
            <a:ext cx="3785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114800" cy="1078992"/>
          </a:xfrm>
          <a:prstGeom prst="roundRect">
            <a:avLst>
              <a:gd name="adj" fmla="val 7627"/>
            </a:avLst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66928" y="26974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6928" y="2697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26974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建立一個檔案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081528"/>
            <a:ext cx="3895344" cy="512064"/>
          </a:xfrm>
          <a:prstGeom prst="roundRect">
            <a:avLst>
              <a:gd name="adj" fmla="val 10714"/>
            </a:avLst>
          </a:prstGeom>
          <a:solidFill>
            <a:srgbClr val="0A1F2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21792" y="3081528"/>
            <a:ext cx="3785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Hello GitHub &gt; test.txt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606040"/>
            <a:ext cx="4114800" cy="1078992"/>
          </a:xfrm>
          <a:prstGeom prst="roundRect">
            <a:avLst>
              <a:gd name="adj" fmla="val 7627"/>
            </a:avLst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956048" y="26974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956048" y="2697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26974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加入追蹤 → 第一次存檔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56048" y="3081528"/>
            <a:ext cx="3895344" cy="512064"/>
          </a:xfrm>
          <a:prstGeom prst="roundRect">
            <a:avLst>
              <a:gd name="adj" fmla="val 10714"/>
            </a:avLst>
          </a:prstGeom>
          <a:solidFill>
            <a:srgbClr val="0A1F2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010912" y="3081528"/>
            <a:ext cx="3785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"第一次存檔"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4114800" cy="1078992"/>
          </a:xfrm>
          <a:prstGeom prst="roundRect">
            <a:avLst>
              <a:gd name="adj" fmla="val 7627"/>
            </a:avLst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566928" y="38862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66928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7552" y="38862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修改檔案 → 第二次存檔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4270248"/>
            <a:ext cx="3895344" cy="512064"/>
          </a:xfrm>
          <a:prstGeom prst="roundRect">
            <a:avLst>
              <a:gd name="adj" fmla="val 10714"/>
            </a:avLst>
          </a:prstGeom>
          <a:solidFill>
            <a:srgbClr val="0A1F2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21792" y="4270248"/>
            <a:ext cx="3785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Second line &gt;&gt; test.txt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"新增第二行"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794760"/>
            <a:ext cx="4114800" cy="1078992"/>
          </a:xfrm>
          <a:prstGeom prst="roundRect">
            <a:avLst>
              <a:gd name="adj" fmla="val 7627"/>
            </a:avLst>
          </a:prstGeom>
          <a:solidFill>
            <a:srgbClr val="0D3A5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956048" y="38862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956048" y="3886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76672" y="38862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查看歷史紀錄 ← 重點！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56048" y="4270248"/>
            <a:ext cx="3895344" cy="512064"/>
          </a:xfrm>
          <a:prstGeom prst="roundRect">
            <a:avLst>
              <a:gd name="adj" fmla="val 10714"/>
            </a:avLst>
          </a:prstGeom>
          <a:solidFill>
            <a:srgbClr val="0A1F2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5010912" y="4270248"/>
            <a:ext cx="3785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告訴你什麼？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0A1F2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3afe46f  新增第二行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7e537bb  第一次存檔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161288"/>
            <a:ext cx="2926080" cy="365760"/>
          </a:xfrm>
          <a:prstGeom prst="roundRect">
            <a:avLst>
              <a:gd name="adj" fmla="val 17500"/>
            </a:avLst>
          </a:prstGeom>
          <a:solidFill>
            <a:srgbClr val="EBF4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760720" y="1161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Hash（全球唯一身份證）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618488"/>
            <a:ext cx="2926080" cy="365760"/>
          </a:xfrm>
          <a:prstGeom prst="roundRect">
            <a:avLst>
              <a:gd name="adj" fmla="val 17500"/>
            </a:avLst>
          </a:prstGeom>
          <a:solidFill>
            <a:srgbClr val="EBF4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760720" y="1618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你寫的 Commit message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0FAF5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時光機功能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9443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7e537bb   ← 回到第一次存檔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master     ← 回到最新版本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A2E3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9044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推到 GitHub（本地 → 雲端）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https://github.com/你的帳號/my-first-repo.git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master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實際操作成果長這樣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29200" cy="3931920"/>
          </a:xfrm>
          <a:prstGeom prst="roundRect">
            <a:avLst>
              <a:gd name="adj" fmla="val 4545"/>
            </a:avLst>
          </a:prstGeom>
          <a:solidFill>
            <a:srgbClr val="EBF4FA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CMD 執行結果（git log 三筆 commit）</a:t>
            </a:r>
            <a:endParaRPr lang="en-US" sz="1200" dirty="0"/>
          </a:p>
        </p:txBody>
      </p:sp>
      <p:pic>
        <p:nvPicPr>
          <p:cNvPr id="5" name="Image 0" descr="/home/claude/screenshot_cm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4846320" cy="33837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51039"/>
            <a:ext cx="3200400" cy="2363561"/>
          </a:xfrm>
          <a:prstGeom prst="roundRect">
            <a:avLst>
              <a:gd name="adj" fmla="val 4545"/>
            </a:avLst>
          </a:prstGeom>
          <a:solidFill>
            <a:srgbClr val="EBF4FA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5669280" y="2568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GitHub 上的 Repo 頁面</a:t>
            </a:r>
            <a:endParaRPr lang="en-US" sz="1200" dirty="0"/>
          </a:p>
        </p:txBody>
      </p:sp>
      <p:pic>
        <p:nvPicPr>
          <p:cNvPr id="8" name="Image 1" descr="/home/claude/screenshot_re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622608"/>
            <a:ext cx="3017520" cy="17654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577840" y="2628900"/>
            <a:ext cx="3200400" cy="2217420"/>
          </a:xfrm>
          <a:prstGeom prst="roundRect">
            <a:avLst>
              <a:gd name="adj" fmla="val 5000"/>
            </a:avLst>
          </a:prstGeom>
          <a:solidFill>
            <a:srgbClr val="EBF4FA"/>
          </a:solidFill>
          <a:ln w="25400">
            <a:solidFill>
              <a:srgbClr val="02C39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5669280" y="275193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GitHub Commits 頁：本地的 git log 完整同步到雲端！</a:t>
            </a:r>
            <a:endParaRPr lang="en-US" sz="1200" dirty="0"/>
          </a:p>
        </p:txBody>
      </p:sp>
      <p:pic>
        <p:nvPicPr>
          <p:cNvPr id="11" name="Image 2" descr="/home/claude/screenshot_commi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167743"/>
            <a:ext cx="3017519" cy="161897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67693BC-54AA-C285-94B9-ADDAA6FFCA74}"/>
              </a:ext>
            </a:extLst>
          </p:cNvPr>
          <p:cNvSpPr/>
          <p:nvPr/>
        </p:nvSpPr>
        <p:spPr>
          <a:xfrm>
            <a:off x="457200" y="4045404"/>
            <a:ext cx="4114800" cy="6694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2B7A2E-ABA0-D3CA-5475-6E2BAB402C5A}"/>
              </a:ext>
            </a:extLst>
          </p:cNvPr>
          <p:cNvSpPr/>
          <p:nvPr/>
        </p:nvSpPr>
        <p:spPr>
          <a:xfrm>
            <a:off x="8303079" y="1048457"/>
            <a:ext cx="383721" cy="23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09DD2F-E983-FD52-E451-0325FBB0F66D}"/>
              </a:ext>
            </a:extLst>
          </p:cNvPr>
          <p:cNvSpPr/>
          <p:nvPr/>
        </p:nvSpPr>
        <p:spPr>
          <a:xfrm>
            <a:off x="5761264" y="3861380"/>
            <a:ext cx="2884715" cy="8902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五個你一定要記住的名詞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AFF"/>
          </a:solidFill>
          <a:ln w="25400">
            <a:solidFill>
              <a:srgbClr val="065A8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75488" y="12344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" y="16459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Repo（倉庫）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94767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一個專案的完整資料夾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AFF"/>
          </a:solidFill>
          <a:ln w="25400">
            <a:solidFill>
              <a:srgbClr val="1C729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310128" y="12344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10128" y="16459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0128" y="194767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一次「存檔 + 附說明」的動作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AFF"/>
          </a:solidFill>
          <a:ln w="25400">
            <a:solidFill>
              <a:srgbClr val="02809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144768" y="12344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44768" y="16459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194767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平行宇宙，安全測試新功能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AFF"/>
          </a:solidFill>
          <a:ln w="25400">
            <a:solidFill>
              <a:srgbClr val="02C39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75488" y="297180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" y="338328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分叉複製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68503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把別人的 Repo 複製到自己帳號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5FAFF"/>
          </a:solidFill>
          <a:ln w="25400">
            <a:solidFill>
              <a:srgbClr val="065A8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310128" y="297180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10128" y="338328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PR（合併申請）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0128" y="3685032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申請把修改合併回主線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動手操作：選一條路開始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0D3A52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132588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零門檻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純網頁版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GitHub 網頁上直接編輯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不需安裝任何工具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在 GitHub 網頁上直接編輯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適合今天第一次嘗試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不需安裝任何工具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0D3A52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3832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069080" y="132588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069080" y="1325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拖曳即可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上傳檔案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.txt 或 .py 拖曳上傳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按下 Commit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把 .txt 或 .py 拖曳上傳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填寫 Commit 說明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按下 Commit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0D3A52"/>
          </a:solidFill>
          <a:ln w="25400">
            <a:solidFill>
              <a:srgbClr val="FF7B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2636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949440" y="132588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7B7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949440" y="1325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+ Push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63640" y="22860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需要安裝 Git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最接近真實開發流程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286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需要安裝 Git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用指令列操作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383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最接近真實開發流程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建立你的第一個 Repo（實作）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 GitHub → 點右上角 "+" → "New repository"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 Repository name（英文、不含空格）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40864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Public（公開），勾選 Add a README file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980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96265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按下 "Create repository"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027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584448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 README.md 右上角鉛筆，編輯並儲存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4224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20624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填寫 Commit message → 按 "Commit changes"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E8F8F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Commit message 就是「這次改了什麼」的說明，養成好習慣很重要！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 怎麼寫？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FF5F5"/>
          </a:solidFill>
          <a:ln w="12700">
            <a:solidFill>
              <a:srgbClr val="FFAAA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不好的寫法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566160" cy="347472"/>
          </a:xfrm>
          <a:prstGeom prst="roundRect">
            <a:avLst>
              <a:gd name="adj" fmla="val 18421"/>
            </a:avLst>
          </a:prstGeom>
          <a:solidFill>
            <a:srgbClr val="FFE0E0"/>
          </a:solidFill>
          <a:ln w="12700">
            <a:solidFill>
              <a:srgbClr val="FFBB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112264"/>
            <a:ext cx="3566160" cy="347472"/>
          </a:xfrm>
          <a:prstGeom prst="roundRect">
            <a:avLst>
              <a:gd name="adj" fmla="val 18421"/>
            </a:avLst>
          </a:prstGeom>
          <a:solidFill>
            <a:srgbClr val="FFE0E0"/>
          </a:solidFill>
          <a:ln w="12700">
            <a:solidFill>
              <a:srgbClr val="FFBB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94360" y="21122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"修改"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32888"/>
            <a:ext cx="3566160" cy="347472"/>
          </a:xfrm>
          <a:prstGeom prst="roundRect">
            <a:avLst>
              <a:gd name="adj" fmla="val 18421"/>
            </a:avLst>
          </a:prstGeom>
          <a:solidFill>
            <a:srgbClr val="FFE0E0"/>
          </a:solidFill>
          <a:ln w="12700">
            <a:solidFill>
              <a:srgbClr val="FFBB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94360" y="2532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"asdfgh"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953512"/>
            <a:ext cx="3566160" cy="347472"/>
          </a:xfrm>
          <a:prstGeom prst="roundRect">
            <a:avLst>
              <a:gd name="adj" fmla="val 18421"/>
            </a:avLst>
          </a:prstGeom>
          <a:solidFill>
            <a:srgbClr val="FFE0E0"/>
          </a:solidFill>
          <a:ln w="12700">
            <a:solidFill>
              <a:srgbClr val="FFBB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9535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374136"/>
            <a:ext cx="3566160" cy="347472"/>
          </a:xfrm>
          <a:prstGeom prst="roundRect">
            <a:avLst>
              <a:gd name="adj" fmla="val 18421"/>
            </a:avLst>
          </a:prstGeom>
          <a:solidFill>
            <a:srgbClr val="FFE0E0"/>
          </a:solidFill>
          <a:ln w="12700">
            <a:solidFill>
              <a:srgbClr val="FFBB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374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"再改一次"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0FAF5"/>
          </a:solidFill>
          <a:ln w="12700">
            <a:solidFill>
              <a:srgbClr val="AADDB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好的寫法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1691640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D8F3E8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983480" y="16916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"新增 GitHub 入門課程講義"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2203704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D8F3E8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983480" y="220370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"修正第三章錯字"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2715768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D8F3E8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983480" y="271576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"初始化課程總目錄 README"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3227832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D8F3E8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983480" y="322783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6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"更新 2026-06 課表連結"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原則：一句話說清楚「這次改了什麼」，未來的你會感謝現在的你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在你的工作場景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EBF4FA"/>
          </a:solidFill>
          <a:ln w="25400">
            <a:solidFill>
              <a:srgbClr val="065A82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合約範本版本管理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044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訴狀草稿協同修改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6667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法條解釋文件歷史追蹤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EBF4FA"/>
          </a:solidFill>
          <a:ln w="25400">
            <a:solidFill>
              <a:srgbClr val="1C7293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課程學員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423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分享程式作業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044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Fork 老師的範例 Repo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6667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展示自己的 AI 作品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EBF4FA"/>
          </a:solidFill>
          <a:ln w="25400">
            <a:solidFill>
              <a:srgbClr val="02809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2344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公開資料集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044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論文草稿版本管理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6667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追蹤共同作者貢獻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課後任務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3A52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基本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建立你的第一個 Public Repo，上傳一份文件（任何檔案都行）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3A52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進階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本課程 Repo（taiwan-law-ai-course），在 README 加一行自我介紹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3A52"/>
          </a:solidFill>
          <a:ln w="25400">
            <a:solidFill>
              <a:srgbClr val="FF99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挑戰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0507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在你的 Repo 建立一個 Branch，在 Branch 上修改後送出 Pull Request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完成後把你的 Repo 連結貼到群組，讓大家互相 Star！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謝謝大家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課程教材 Repo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github.com/mjib007/taiwan-law-ai-course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36576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錢世傑  |  台灣法學基金會 × AI 應用課程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764</Words>
  <Application>Microsoft Office PowerPoint</Application>
  <PresentationFormat>如螢幕大小 (16:9)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入門課程</dc:title>
  <dc:subject>PptxGenJS Presentation</dc:subject>
  <dc:creator>錢世傑</dc:creator>
  <cp:lastModifiedBy>世傑 錢</cp:lastModifiedBy>
  <cp:revision>2</cp:revision>
  <dcterms:created xsi:type="dcterms:W3CDTF">2026-06-13T04:00:34Z</dcterms:created>
  <dcterms:modified xsi:type="dcterms:W3CDTF">2026-06-13T04:05:11Z</dcterms:modified>
</cp:coreProperties>
</file>